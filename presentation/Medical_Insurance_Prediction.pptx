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1" r:id="rId15"/>
    <p:sldId id="268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347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42232"/>
          </a:solidFill>
          <a:ln w="12700">
            <a:solidFill>
              <a:srgbClr val="1422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630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Medical Insurance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21284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Prediction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Machine Learning Project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3657600"/>
            <a:ext cx="1417320" cy="329184"/>
          </a:xfrm>
          <a:prstGeom prst="roundRect">
            <a:avLst>
              <a:gd name="adj" fmla="val 13889"/>
            </a:avLst>
          </a:prstGeom>
          <a:solidFill>
            <a:srgbClr val="0F2C45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65760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20240" y="3657600"/>
            <a:ext cx="1417320" cy="329184"/>
          </a:xfrm>
          <a:prstGeom prst="roundRect">
            <a:avLst>
              <a:gd name="adj" fmla="val 13889"/>
            </a:avLst>
          </a:prstGeom>
          <a:solidFill>
            <a:srgbClr val="0F2C45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365760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3657600"/>
            <a:ext cx="1417320" cy="329184"/>
          </a:xfrm>
          <a:prstGeom prst="roundRect">
            <a:avLst>
              <a:gd name="adj" fmla="val 13889"/>
            </a:avLst>
          </a:prstGeom>
          <a:solidFill>
            <a:srgbClr val="0F2C45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365760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4096512"/>
            <a:ext cx="1417320" cy="329184"/>
          </a:xfrm>
          <a:prstGeom prst="roundRect">
            <a:avLst>
              <a:gd name="adj" fmla="val 13889"/>
            </a:avLst>
          </a:prstGeom>
          <a:solidFill>
            <a:srgbClr val="0F2C45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09651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20240" y="4096512"/>
            <a:ext cx="1417320" cy="329184"/>
          </a:xfrm>
          <a:prstGeom prst="roundRect">
            <a:avLst>
              <a:gd name="adj" fmla="val 13889"/>
            </a:avLst>
          </a:prstGeom>
          <a:solidFill>
            <a:srgbClr val="0F2C45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0240" y="409651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0" y="4096512"/>
            <a:ext cx="1417320" cy="329184"/>
          </a:xfrm>
          <a:prstGeom prst="roundRect">
            <a:avLst>
              <a:gd name="adj" fmla="val 13889"/>
            </a:avLst>
          </a:prstGeom>
          <a:solidFill>
            <a:srgbClr val="0F2C45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409651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6217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Rudra Barman  ·  Healthcare &amp; Insurance Domain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548640"/>
            <a:ext cx="3063240" cy="1737360"/>
          </a:xfrm>
          <a:prstGeom prst="rect">
            <a:avLst/>
          </a:prstGeom>
          <a:solidFill>
            <a:srgbClr val="1A2D42"/>
          </a:solidFill>
          <a:ln w="1016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77840" y="548640"/>
            <a:ext cx="64008" cy="1737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0" y="658368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715000" y="8686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2,772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8823960" y="548640"/>
            <a:ext cx="3063240" cy="1737360"/>
          </a:xfrm>
          <a:prstGeom prst="rect">
            <a:avLst/>
          </a:prstGeom>
          <a:solidFill>
            <a:srgbClr val="1A2D42"/>
          </a:solidFill>
          <a:ln w="1016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823960" y="548640"/>
            <a:ext cx="64008" cy="17373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0" y="658368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Deduplication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961120" y="8686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1,337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5577840" y="2468880"/>
            <a:ext cx="3063240" cy="1737360"/>
          </a:xfrm>
          <a:prstGeom prst="rect">
            <a:avLst/>
          </a:prstGeom>
          <a:solidFill>
            <a:srgbClr val="1A2D42"/>
          </a:solidFill>
          <a:ln w="1016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577840" y="2468880"/>
            <a:ext cx="64008" cy="17373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15000" y="2578608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715000" y="27889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8823960" y="2468880"/>
            <a:ext cx="3063240" cy="1737360"/>
          </a:xfrm>
          <a:prstGeom prst="rect">
            <a:avLst/>
          </a:prstGeom>
          <a:solidFill>
            <a:srgbClr val="1A2D42"/>
          </a:solidFill>
          <a:ln w="1016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823960" y="2468880"/>
            <a:ext cx="64008" cy="17373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61120" y="2578608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R² Score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961120" y="27889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0.9108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5577840" y="4389120"/>
            <a:ext cx="3063240" cy="1737360"/>
          </a:xfrm>
          <a:prstGeom prst="rect">
            <a:avLst/>
          </a:prstGeom>
          <a:solidFill>
            <a:srgbClr val="1A2D42"/>
          </a:solidFill>
          <a:ln w="1016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577840" y="4389120"/>
            <a:ext cx="64008" cy="173736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15000" y="4498848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RMSE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715000" y="47091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$4,048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8823960" y="4389120"/>
            <a:ext cx="3063240" cy="1737360"/>
          </a:xfrm>
          <a:prstGeom prst="rect">
            <a:avLst/>
          </a:prstGeom>
          <a:solidFill>
            <a:srgbClr val="1A2D42"/>
          </a:solidFill>
          <a:ln w="1016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823960" y="4389120"/>
            <a:ext cx="64008" cy="17373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61120" y="4498848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Smoker Rate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961120" y="47091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20.3%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regression pipeline to predict individual medical insurance costs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749040" cy="2423160"/>
          </a:xfrm>
          <a:prstGeom prst="rect">
            <a:avLst/>
          </a:prstGeom>
          <a:solidFill>
            <a:srgbClr val="142232"/>
          </a:solidFill>
          <a:ln w="1016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374904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618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Problem Statement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691640"/>
            <a:ext cx="34015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individual insurance charges based on age, sex, BMI, smoking status, children &amp; region using regression models.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06240" y="1097280"/>
            <a:ext cx="3749040" cy="2423160"/>
          </a:xfrm>
          <a:prstGeom prst="rect">
            <a:avLst/>
          </a:prstGeom>
          <a:solidFill>
            <a:srgbClr val="142232"/>
          </a:solidFill>
          <a:ln w="1016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06240" y="1097280"/>
            <a:ext cx="3749040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70832" y="12618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 Dataset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70832" y="1691640"/>
            <a:ext cx="34015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1,337 unique records · 7 features · Target: annual charges ($1,122 – $63,770) · Healthcare &amp; Insurance domain.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1097280"/>
            <a:ext cx="3749040" cy="2423160"/>
          </a:xfrm>
          <a:prstGeom prst="rect">
            <a:avLst/>
          </a:prstGeom>
          <a:solidFill>
            <a:srgbClr val="142232"/>
          </a:solidFill>
          <a:ln w="1016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38160" y="1097280"/>
            <a:ext cx="374904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2618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🔧  Approach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02752" y="1691640"/>
            <a:ext cx="34015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→ EDA → Feature Engineering → Train 7 Models → MLflow Tracking → Streamlit Deployment.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703320"/>
            <a:ext cx="3749040" cy="2423160"/>
          </a:xfrm>
          <a:prstGeom prst="rect">
            <a:avLst/>
          </a:prstGeom>
          <a:solidFill>
            <a:srgbClr val="142232"/>
          </a:solidFill>
          <a:ln w="1016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703320"/>
            <a:ext cx="374904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86791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🏆  Best Result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8912" y="4297680"/>
            <a:ext cx="34015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achieved R²=0.9108, RMSE=$4,048 — outperforming XGBoost due to engineered interaction features.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06240" y="3703320"/>
            <a:ext cx="3749040" cy="2423160"/>
          </a:xfrm>
          <a:prstGeom prst="rect">
            <a:avLst/>
          </a:prstGeom>
          <a:solidFill>
            <a:srgbClr val="142232"/>
          </a:solidFill>
          <a:ln w="1016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06240" y="3703320"/>
            <a:ext cx="374904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386791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Feature Engineering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370832" y="4297680"/>
            <a:ext cx="34015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new features: BMI category, age group, smoker×BMI, smoker×age, obese-smoker flag — linearized non-linear relationships.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38160" y="3703320"/>
            <a:ext cx="3749040" cy="2423160"/>
          </a:xfrm>
          <a:prstGeom prst="rect">
            <a:avLst/>
          </a:prstGeom>
          <a:solidFill>
            <a:srgbClr val="142232"/>
          </a:solidFill>
          <a:ln w="1016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38160" y="3703320"/>
            <a:ext cx="3749040" cy="5486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02752" y="386791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 Deployment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02752" y="4297680"/>
            <a:ext cx="34015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Streamlit app with live EDA charts, 7-model comparison table &amp; real-time insurance cost prediction.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medical_insurance.csv · 1,337 clean records · 7 features · No missing values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97280"/>
          <a:ext cx="11521440" cy="32918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/ Values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of primary beneficiary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– 64 years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 of the insured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 / female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 Mass Index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 – 53.1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children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dependents covered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Smoking 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/ 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Residential area in the 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/ NW / SE / SW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 (🎯)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medical insurance cost (TARGET)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$1,122 – $63,770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4572000"/>
            <a:ext cx="2240280" cy="1737360"/>
          </a:xfrm>
          <a:prstGeom prst="rect">
            <a:avLst/>
          </a:prstGeom>
          <a:solidFill>
            <a:srgbClr val="1A2D42"/>
          </a:solidFill>
          <a:ln w="1016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4572000"/>
            <a:ext cx="64008" cy="1737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68172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Charges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48920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$13,261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660904" y="4572000"/>
            <a:ext cx="2240280" cy="1737360"/>
          </a:xfrm>
          <a:prstGeom prst="rect">
            <a:avLst/>
          </a:prstGeom>
          <a:solidFill>
            <a:srgbClr val="1A2D42"/>
          </a:solidFill>
          <a:ln w="1016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60904" y="4572000"/>
            <a:ext cx="64008" cy="17373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98064" y="468172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Charges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798064" y="48920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$9,333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5001768" y="4572000"/>
            <a:ext cx="2240280" cy="1737360"/>
          </a:xfrm>
          <a:prstGeom prst="rect">
            <a:avLst/>
          </a:prstGeom>
          <a:solidFill>
            <a:srgbClr val="1A2D42"/>
          </a:solidFill>
          <a:ln w="1016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001768" y="4572000"/>
            <a:ext cx="64008" cy="17373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38928" y="468172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Charges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138928" y="48920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$63,770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7342632" y="4572000"/>
            <a:ext cx="2240280" cy="1737360"/>
          </a:xfrm>
          <a:prstGeom prst="rect">
            <a:avLst/>
          </a:prstGeom>
          <a:solidFill>
            <a:srgbClr val="1A2D42"/>
          </a:solidFill>
          <a:ln w="1016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342632" y="4572000"/>
            <a:ext cx="64008" cy="17373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79792" y="468172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BMI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479792" y="48920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30.7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9683496" y="4572000"/>
            <a:ext cx="2240280" cy="1737360"/>
          </a:xfrm>
          <a:prstGeom prst="rect">
            <a:avLst/>
          </a:prstGeom>
          <a:solidFill>
            <a:srgbClr val="1A2D42"/>
          </a:solidFill>
          <a:ln w="1016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9683496" y="4572000"/>
            <a:ext cx="64008" cy="17373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820656" y="468172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Age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9820656" y="48920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39.1 yrs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— Univariate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key variables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7498080" cy="420624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005840"/>
            <a:ext cx="3886200" cy="283464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3977640"/>
            <a:ext cx="3886200" cy="25603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274320" y="5349240"/>
            <a:ext cx="7498080" cy="1188720"/>
          </a:xfrm>
          <a:prstGeom prst="rect">
            <a:avLst/>
          </a:prstGeom>
          <a:solidFill>
            <a:srgbClr val="0A1F35"/>
          </a:solidFill>
          <a:ln w="10160">
            <a:solidFill>
              <a:srgbClr val="1E3A52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457200" y="539496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Insight: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are right-skewed (mean $13,261 &gt; median $9,333) — a small group of high-cost patients drives the average up. 79.5% are non-smokers. Age distribution is fairly uniform (18–64).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— Univariate Analysis (Cont.)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BMI, Region &amp; Children distributions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760720" cy="329184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005840"/>
            <a:ext cx="5669280" cy="329184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4434840"/>
            <a:ext cx="5760720" cy="214884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217920" y="4434840"/>
            <a:ext cx="5669280" cy="658368"/>
          </a:xfrm>
          <a:prstGeom prst="rect">
            <a:avLst/>
          </a:prstGeom>
          <a:solidFill>
            <a:srgbClr val="142232"/>
          </a:solidFill>
          <a:ln w="6350">
            <a:solidFill>
              <a:srgbClr val="1E3A52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6217920" y="4434840"/>
            <a:ext cx="54864" cy="6583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6446520" y="4480560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BMI = 30.7 — average policyholder is technically obese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6217920" y="5184648"/>
            <a:ext cx="5669280" cy="658368"/>
          </a:xfrm>
          <a:prstGeom prst="rect">
            <a:avLst/>
          </a:prstGeom>
          <a:solidFill>
            <a:srgbClr val="142232"/>
          </a:solidFill>
          <a:ln w="6350">
            <a:solidFill>
              <a:srgbClr val="1E3A52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6217920" y="5184648"/>
            <a:ext cx="54864" cy="65836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446520" y="5230368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Southeast has most policyholders (383); others roughly equal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217920" y="5934456"/>
            <a:ext cx="5669280" cy="658368"/>
          </a:xfrm>
          <a:prstGeom prst="rect">
            <a:avLst/>
          </a:prstGeom>
          <a:solidFill>
            <a:srgbClr val="142232"/>
          </a:solidFill>
          <a:ln w="6350">
            <a:solidFill>
              <a:srgbClr val="1E3A52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217920" y="5934456"/>
            <a:ext cx="54864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446520" y="5980176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 have no children; charges peak at 2-3 dependents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— Bivariate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individual features relate to insurance charges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7132320" cy="402336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005840"/>
            <a:ext cx="4297680" cy="40233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74320" y="5212080"/>
            <a:ext cx="2788920" cy="1417320"/>
          </a:xfrm>
          <a:prstGeom prst="rect">
            <a:avLst/>
          </a:prstGeom>
          <a:solidFill>
            <a:srgbClr val="1A2D42"/>
          </a:solidFill>
          <a:ln w="1016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274320" y="5212080"/>
            <a:ext cx="64008" cy="14173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1480" y="532180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Non-Smoker</a:t>
            </a:r>
            <a:endParaRPr lang="en-US" sz="900" dirty="0"/>
          </a:p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Cost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11480" y="5532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$8,418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3200400" y="5212080"/>
            <a:ext cx="2788920" cy="1417320"/>
          </a:xfrm>
          <a:prstGeom prst="rect">
            <a:avLst/>
          </a:prstGeom>
          <a:solidFill>
            <a:srgbClr val="1A2D42"/>
          </a:solidFill>
          <a:ln w="1016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00400" y="5212080"/>
            <a:ext cx="64008" cy="14173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337560" y="532180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Smoker</a:t>
            </a:r>
            <a:endParaRPr lang="en-US" sz="900" dirty="0"/>
          </a:p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Cost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337560" y="5532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$32,223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6126480" y="5212080"/>
            <a:ext cx="2788920" cy="1417320"/>
          </a:xfrm>
          <a:prstGeom prst="rect">
            <a:avLst/>
          </a:prstGeom>
          <a:solidFill>
            <a:srgbClr val="1A2D42"/>
          </a:solidFill>
          <a:ln w="1016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26480" y="5212080"/>
            <a:ext cx="64008" cy="14173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263640" y="532180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</a:t>
            </a:r>
            <a:endParaRPr lang="en-US" sz="900" dirty="0"/>
          </a:p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6263640" y="5532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+283%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9052560" y="5212080"/>
            <a:ext cx="2788920" cy="1417320"/>
          </a:xfrm>
          <a:prstGeom prst="rect">
            <a:avLst/>
          </a:prstGeom>
          <a:solidFill>
            <a:srgbClr val="1A2D42"/>
          </a:solidFill>
          <a:ln w="1016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9052560" y="5212080"/>
            <a:ext cx="64008" cy="1417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189720" y="532180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Cost</a:t>
            </a:r>
            <a:endParaRPr lang="en-US" sz="900" dirty="0"/>
          </a:p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 of Age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9189720" y="5532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~$200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— BMI Impact on Charges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is a significant predictor — especially combined with smoking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7132320" cy="393192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005840"/>
            <a:ext cx="4297680" cy="3931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74320" y="5120640"/>
            <a:ext cx="11612880" cy="1463040"/>
          </a:xfrm>
          <a:prstGeom prst="rect">
            <a:avLst/>
          </a:prstGeom>
          <a:solidFill>
            <a:srgbClr val="0A1F35"/>
          </a:solidFill>
          <a:ln w="10160">
            <a:solidFill>
              <a:srgbClr val="1E3A5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5166360"/>
            <a:ext cx="11155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Critical Finding: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Non-smokers (blue) show FLAT charges regardless of BMI. But smokers (red) with BMI&gt;30 show an explosive cost increase — this interaction is captured by the engineered </a:t>
            </a: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smoker_bmi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obese_smoker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features, which are key drivers of model accuracy.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— Correlation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of all features with annual insurance charges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713232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89520" y="1005840"/>
            <a:ext cx="4297680" cy="758952"/>
          </a:xfrm>
          <a:prstGeom prst="rect">
            <a:avLst/>
          </a:prstGeom>
          <a:solidFill>
            <a:srgbClr val="142232"/>
          </a:solidFill>
          <a:ln w="6350">
            <a:solidFill>
              <a:srgbClr val="1E3A5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0" y="1051560"/>
            <a:ext cx="457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87171"/>
                </a:solidFill>
              </a:rPr>
              <a:t>🥇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183880" y="10515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smoker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83880" y="1353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05840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0.790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7589520" y="1856232"/>
            <a:ext cx="4297680" cy="758952"/>
          </a:xfrm>
          <a:prstGeom prst="rect">
            <a:avLst/>
          </a:prstGeom>
          <a:solidFill>
            <a:srgbClr val="142232"/>
          </a:solidFill>
          <a:ln w="6350">
            <a:solidFill>
              <a:srgbClr val="1E3A5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80960" y="1901952"/>
            <a:ext cx="457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B923C"/>
                </a:solidFill>
              </a:rPr>
              <a:t>🥈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183880" y="19019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83880" y="22037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058400" y="19476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0.300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7589520" y="2706624"/>
            <a:ext cx="4297680" cy="758952"/>
          </a:xfrm>
          <a:prstGeom prst="rect">
            <a:avLst/>
          </a:prstGeom>
          <a:solidFill>
            <a:srgbClr val="142232"/>
          </a:solidFill>
          <a:ln w="6350">
            <a:solidFill>
              <a:srgbClr val="1E3A5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80960" y="2752344"/>
            <a:ext cx="457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BBF24"/>
                </a:solidFill>
              </a:rPr>
              <a:t>🥉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183880" y="27523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bmi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183880" y="30540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058400" y="279806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0.200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7589520" y="3557016"/>
            <a:ext cx="4297680" cy="758952"/>
          </a:xfrm>
          <a:prstGeom prst="rect">
            <a:avLst/>
          </a:prstGeom>
          <a:solidFill>
            <a:srgbClr val="142232"/>
          </a:solidFill>
          <a:ln w="6350">
            <a:solidFill>
              <a:srgbClr val="1E3A5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80960" y="3602736"/>
            <a:ext cx="457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8BDF8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183880" y="36027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children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183880" y="39044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058400" y="364845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0.070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7589520" y="4407408"/>
            <a:ext cx="4297680" cy="758952"/>
          </a:xfrm>
          <a:prstGeom prst="rect">
            <a:avLst/>
          </a:prstGeom>
          <a:solidFill>
            <a:srgbClr val="142232"/>
          </a:solidFill>
          <a:ln w="6350">
            <a:solidFill>
              <a:srgbClr val="1E3A5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80960" y="4453128"/>
            <a:ext cx="457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5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183880" y="44531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sex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183880" y="4754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Weak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058400" y="44988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0.060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274320" y="5257800"/>
            <a:ext cx="11612880" cy="1325880"/>
          </a:xfrm>
          <a:prstGeom prst="rect">
            <a:avLst/>
          </a:prstGeom>
          <a:solidFill>
            <a:srgbClr val="0A1F35"/>
          </a:solidFill>
          <a:ln w="10160">
            <a:solidFill>
              <a:srgbClr val="1E3A5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7200" y="5303520"/>
            <a:ext cx="11155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Takeaway: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 (r=0.79) is the dominant predictor — far stronger than age (0.30) or BMI (0.20). No multicollinearity exists between features, making linear models stable.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— Risk Profile Comparison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effect of obesity and smoking on insurance costs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6858000" cy="4206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0" y="1097280"/>
            <a:ext cx="4572000" cy="1691640"/>
          </a:xfrm>
          <a:prstGeom prst="rect">
            <a:avLst/>
          </a:prstGeom>
          <a:solidFill>
            <a:srgbClr val="142232"/>
          </a:solidFill>
          <a:ln w="15240">
            <a:solidFill>
              <a:srgbClr val="4ADE80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452360" y="11704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452360" y="142646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 BMI + Non-Smoker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452360" y="175564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$7,999/yr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7315200" y="2971800"/>
            <a:ext cx="4572000" cy="1691640"/>
          </a:xfrm>
          <a:prstGeom prst="rect">
            <a:avLst/>
          </a:prstGeom>
          <a:solidFill>
            <a:srgbClr val="142232"/>
          </a:solidFill>
          <a:ln w="15240">
            <a:solidFill>
              <a:srgbClr val="38BDF8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452360" y="30449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452360" y="330098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Overall Average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452360" y="36301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$13,261/yr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7315200" y="4846320"/>
            <a:ext cx="4572000" cy="1691640"/>
          </a:xfrm>
          <a:prstGeom prst="rect">
            <a:avLst/>
          </a:prstGeom>
          <a:solidFill>
            <a:srgbClr val="142232"/>
          </a:solidFill>
          <a:ln w="15240">
            <a:solidFill>
              <a:srgbClr val="F87171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452360" y="49194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RISK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452360" y="517550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Obese (BMI≥30) + Smoker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452360" y="55046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$41,544/yr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274320" y="5349240"/>
            <a:ext cx="11612880" cy="1234440"/>
          </a:xfrm>
          <a:prstGeom prst="rect">
            <a:avLst/>
          </a:prstGeom>
          <a:solidFill>
            <a:srgbClr val="0A1F35"/>
          </a:solidFill>
          <a:ln w="10160">
            <a:solidFill>
              <a:srgbClr val="1E3A5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5394960"/>
            <a:ext cx="11155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Insight: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obese smoker pays </a:t>
            </a: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5.2× more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a healthy non-smoker. This massive gap justifies creating the </a:t>
            </a: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obese_smoker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interaction feature in our model.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Engineering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raw features into ML-ready predictors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5303520" cy="4663440"/>
          </a:xfrm>
          <a:prstGeom prst="rect">
            <a:avLst/>
          </a:prstGeom>
          <a:solidFill>
            <a:srgbClr val="142232"/>
          </a:solidFill>
          <a:ln w="10160">
            <a:solidFill>
              <a:srgbClr val="1E3A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 9  FEATURES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385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sex (encoded)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6829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bmi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7980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children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22783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smoker (encoded)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region_northwest (bool)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0873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region_southeast (bool)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51713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region_southwest (bool)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94690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charges (target)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15000" y="3291840"/>
            <a:ext cx="64008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2880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➕5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492240" y="1051560"/>
            <a:ext cx="5394960" cy="4663440"/>
          </a:xfrm>
          <a:prstGeom prst="rect">
            <a:avLst/>
          </a:prstGeom>
          <a:solidFill>
            <a:srgbClr val="0A1F35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1143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NEW  ENGINEERED  FEATURES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92240" y="1536192"/>
            <a:ext cx="5394960" cy="704088"/>
          </a:xfrm>
          <a:prstGeom prst="rect">
            <a:avLst/>
          </a:prstGeom>
          <a:solidFill>
            <a:srgbClr val="1A2D42"/>
          </a:solidFill>
          <a:ln w="6350">
            <a:solidFill>
              <a:srgbClr val="1E3A5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1536192"/>
            <a:ext cx="54864" cy="70408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15819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bmi_category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29400" y="18470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0=Underweight, 1=Normal, 2=Overweight, 3=Obese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92240" y="2331720"/>
            <a:ext cx="5394960" cy="704088"/>
          </a:xfrm>
          <a:prstGeom prst="rect">
            <a:avLst/>
          </a:prstGeom>
          <a:solidFill>
            <a:srgbClr val="1A2D42"/>
          </a:solidFill>
          <a:ln w="6350">
            <a:solidFill>
              <a:srgbClr val="1E3A5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2331720"/>
            <a:ext cx="54864" cy="70408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2377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29400" y="264261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0=18-25, 1=26-35, 2=36-45, 3=46-55, 4=56-64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92240" y="3127248"/>
            <a:ext cx="5394960" cy="704088"/>
          </a:xfrm>
          <a:prstGeom prst="rect">
            <a:avLst/>
          </a:prstGeom>
          <a:solidFill>
            <a:srgbClr val="1A2D42"/>
          </a:solidFill>
          <a:ln w="6350">
            <a:solidFill>
              <a:srgbClr val="1E3A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2240" y="3127248"/>
            <a:ext cx="54864" cy="70408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31729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smoker_bmi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29400" y="343814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smoker × bmi — captures obesity+smoking interaction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92240" y="3922776"/>
            <a:ext cx="5394960" cy="704088"/>
          </a:xfrm>
          <a:prstGeom prst="rect">
            <a:avLst/>
          </a:prstGeom>
          <a:solidFill>
            <a:srgbClr val="1A2D42"/>
          </a:solidFill>
          <a:ln w="6350">
            <a:solidFill>
              <a:srgbClr val="1E3A5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92240" y="3922776"/>
            <a:ext cx="54864" cy="70408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9400" y="396849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smoker_age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629400" y="42336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smoker × age — older smokers cost much more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92240" y="4718304"/>
            <a:ext cx="5394960" cy="704088"/>
          </a:xfrm>
          <a:prstGeom prst="rect">
            <a:avLst/>
          </a:prstGeom>
          <a:solidFill>
            <a:srgbClr val="1A2D42"/>
          </a:solidFill>
          <a:ln w="6350">
            <a:solidFill>
              <a:srgbClr val="1E3A5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92240" y="4718304"/>
            <a:ext cx="54864" cy="70408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9400" y="476402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obese_smoker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629400" y="5029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flag: 1 if BMI≥30 AND smoker — highest risk group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4320" y="5852160"/>
            <a:ext cx="1161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features → 13 features  ·  These features linearized non-linear relationships, enabling Linear Regression to outperform XGBoost.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Training &amp; Evaluation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regression algorithms trained and compared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7315200" cy="384048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005840"/>
          <a:ext cx="4114800" cy="42062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🥇 Linear 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$4,048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🥈 Lasso 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$4,049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🥉 Ridge 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$4,050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Gradient Boosting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$4,355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$2,488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B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XGBoost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B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$4,479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B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Decision Tree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B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$4,506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$2,662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$4,547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5029200"/>
            <a:ext cx="11612880" cy="1508760"/>
          </a:xfrm>
          <a:prstGeom prst="rect">
            <a:avLst/>
          </a:prstGeom>
          <a:solidFill>
            <a:srgbClr val="0A2A15"/>
          </a:solidFill>
          <a:ln w="10160">
            <a:solidFill>
              <a:srgbClr val="4ADE8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5074920"/>
            <a:ext cx="11155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Surprise Finding: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beats XGBoost! Feature engineering transformed non-linear interactions into linear signals. smoker_bmi and obese_smoker made the relationship linear — removing the advantage of tree-based models. R²=0.9108 means the model explains 91% of cost variance.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MLflow Experiment Tracking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ML lifecycle management — logging, tracking &amp; model registry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3291840"/>
          </a:xfrm>
          <a:prstGeom prst="rect">
            <a:avLst/>
          </a:prstGeom>
          <a:solidFill>
            <a:srgbClr val="142232"/>
          </a:solidFill>
          <a:ln w="12700">
            <a:solidFill>
              <a:srgbClr val="38BDF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188720"/>
            <a:ext cx="731520" cy="7315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188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2057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 Experiment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578608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mlflow.set_experiment(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"Medical_Insurance_Cost_Prediction")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743200" cy="3291840"/>
          </a:xfrm>
          <a:prstGeom prst="rect">
            <a:avLst/>
          </a:prstGeom>
          <a:solidFill>
            <a:srgbClr val="142232"/>
          </a:solidFill>
          <a:ln w="12700">
            <a:solidFill>
              <a:srgbClr val="A78BF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931920" y="1188720"/>
            <a:ext cx="731520" cy="7315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1188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37560" y="2057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 Each Model Run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2578608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 params, metrics (R², RMSE, MAE)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model artifacts per run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051560"/>
            <a:ext cx="2743200" cy="3291840"/>
          </a:xfrm>
          <a:prstGeom prst="rect">
            <a:avLst/>
          </a:prstGeom>
          <a:solidFill>
            <a:srgbClr val="142232"/>
          </a:solidFill>
          <a:ln w="12700">
            <a:solidFill>
              <a:srgbClr val="FBBF24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0" y="1188720"/>
            <a:ext cx="731520" cy="7315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1188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63640" y="2057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 7 Experiments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2578608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7 models logged with unique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IDs, hyperparams &amp; performance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52560" y="1051560"/>
            <a:ext cx="2743200" cy="3291840"/>
          </a:xfrm>
          <a:prstGeom prst="rect">
            <a:avLst/>
          </a:prstGeom>
          <a:solidFill>
            <a:srgbClr val="142232"/>
          </a:solidFill>
          <a:ln w="12700">
            <a:solidFill>
              <a:srgbClr val="4ADE80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784080" y="1188720"/>
            <a:ext cx="731520" cy="73152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84080" y="1188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89720" y="2057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Register Best Model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89720" y="2578608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mlflow.register_model()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"MedicalInsuranceCostPredictor v1"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572000"/>
            <a:ext cx="11612880" cy="475488"/>
          </a:xfrm>
          <a:prstGeom prst="rect">
            <a:avLst/>
          </a:prstGeom>
          <a:solidFill>
            <a:srgbClr val="142232"/>
          </a:solidFill>
          <a:ln w="3810">
            <a:solidFill>
              <a:srgbClr val="1E3A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59943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148840" y="459943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model_type, test_size, n_features, n_train_samples, all hyperparameters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5120640"/>
            <a:ext cx="11612880" cy="475488"/>
          </a:xfrm>
          <a:prstGeom prst="rect">
            <a:avLst/>
          </a:prstGeom>
          <a:solidFill>
            <a:srgbClr val="0D1B2A"/>
          </a:solidFill>
          <a:ln w="3810">
            <a:solidFill>
              <a:srgbClr val="1E3A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514807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148840" y="514807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Score, RMSE (Root Mean Squared Error), MAE (Mean Absolute Error)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5669280"/>
            <a:ext cx="11612880" cy="475488"/>
          </a:xfrm>
          <a:prstGeom prst="rect">
            <a:avLst/>
          </a:prstGeom>
          <a:solidFill>
            <a:srgbClr val="142232"/>
          </a:solidFill>
          <a:ln w="3810">
            <a:solidFill>
              <a:srgbClr val="1E3A5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56967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148840" y="569671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 pickle, input/output signature for each of 7 runs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6217920"/>
            <a:ext cx="11612880" cy="475488"/>
          </a:xfrm>
          <a:prstGeom prst="rect">
            <a:avLst/>
          </a:prstGeom>
          <a:solidFill>
            <a:srgbClr val="0D1B2A"/>
          </a:solidFill>
          <a:ln w="3810">
            <a:solidFill>
              <a:srgbClr val="1E3A5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62453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148840" y="624535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MedicalInsuranceCostPredictor v1 — Status: READY — Best: Linear Regression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Streamlit App — Features &amp; UI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application with live insurance cost prediction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88920" cy="4937760"/>
          </a:xfrm>
          <a:prstGeom prst="rect">
            <a:avLst/>
          </a:prstGeom>
          <a:solidFill>
            <a:srgbClr val="142232"/>
          </a:solidFill>
          <a:ln w="15240">
            <a:solidFill>
              <a:srgbClr val="38BDF8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78892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15568"/>
            <a:ext cx="2514600" cy="310896"/>
          </a:xfrm>
          <a:prstGeom prst="roundRect">
            <a:avLst>
              <a:gd name="adj" fmla="val 14706"/>
            </a:avLst>
          </a:prstGeom>
          <a:solidFill>
            <a:srgbClr val="0A1825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1556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3619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15727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Overview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2084832"/>
            <a:ext cx="2514600" cy="420624"/>
          </a:xfrm>
          <a:prstGeom prst="rect">
            <a:avLst/>
          </a:prstGeom>
          <a:solidFill>
            <a:srgbClr val="1A2D42"/>
          </a:solidFill>
          <a:ln w="5080">
            <a:solidFill>
              <a:srgbClr val="1E3A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" y="2231136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10312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distribution histogram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569464"/>
            <a:ext cx="2514600" cy="420624"/>
          </a:xfrm>
          <a:prstGeom prst="rect">
            <a:avLst/>
          </a:prstGeom>
          <a:solidFill>
            <a:srgbClr val="1A2D42"/>
          </a:solidFill>
          <a:ln w="5080">
            <a:solidFill>
              <a:srgbClr val="1E3A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2715768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58775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Smoker pie chart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054096"/>
            <a:ext cx="2514600" cy="420624"/>
          </a:xfrm>
          <a:prstGeom prst="rect">
            <a:avLst/>
          </a:prstGeom>
          <a:solidFill>
            <a:srgbClr val="1A2D42"/>
          </a:solidFill>
          <a:ln w="5080">
            <a:solidFill>
              <a:srgbClr val="1E3A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3200400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072384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distribution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538728"/>
            <a:ext cx="2514600" cy="420624"/>
          </a:xfrm>
          <a:prstGeom prst="rect">
            <a:avLst/>
          </a:prstGeom>
          <a:solidFill>
            <a:srgbClr val="1A2D42"/>
          </a:solidFill>
          <a:ln w="5080">
            <a:solidFill>
              <a:srgbClr val="1E3A5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3685032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557016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bar chart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4023360"/>
            <a:ext cx="2514600" cy="420624"/>
          </a:xfrm>
          <a:prstGeom prst="rect">
            <a:avLst/>
          </a:prstGeom>
          <a:solidFill>
            <a:srgbClr val="1A2D42"/>
          </a:solidFill>
          <a:ln w="5080">
            <a:solidFill>
              <a:srgbClr val="1E3A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4169664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4041648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trend line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4507992"/>
            <a:ext cx="2514600" cy="420624"/>
          </a:xfrm>
          <a:prstGeom prst="rect">
            <a:avLst/>
          </a:prstGeom>
          <a:solidFill>
            <a:srgbClr val="1A2D42"/>
          </a:solidFill>
          <a:ln w="5080">
            <a:solidFill>
              <a:srgbClr val="1E3A5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" y="4654296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452628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KPI insight cards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1005840"/>
            <a:ext cx="2788920" cy="4937760"/>
          </a:xfrm>
          <a:prstGeom prst="rect">
            <a:avLst/>
          </a:prstGeom>
          <a:solidFill>
            <a:srgbClr val="142232"/>
          </a:solidFill>
          <a:ln w="15240">
            <a:solidFill>
              <a:srgbClr val="A78BFA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1005840"/>
            <a:ext cx="278892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37560" y="1115568"/>
            <a:ext cx="2514600" cy="310896"/>
          </a:xfrm>
          <a:prstGeom prst="roundRect">
            <a:avLst>
              <a:gd name="adj" fmla="val 14706"/>
            </a:avLst>
          </a:prstGeom>
          <a:solidFill>
            <a:srgbClr val="0A1825"/>
          </a:solidFill>
          <a:ln w="762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111556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37560" y="153619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794760" y="15727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Deep Dive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337560" y="2084832"/>
            <a:ext cx="2514600" cy="420624"/>
          </a:xfrm>
          <a:prstGeom prst="rect">
            <a:avLst/>
          </a:prstGeom>
          <a:solidFill>
            <a:srgbClr val="1A2D42"/>
          </a:solidFill>
          <a:ln w="5080">
            <a:solidFill>
              <a:srgbClr val="1E3A5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01568" y="2231136"/>
            <a:ext cx="128016" cy="12801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84448" y="210312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vs Charges scatter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337560" y="2569464"/>
            <a:ext cx="2514600" cy="420624"/>
          </a:xfrm>
          <a:prstGeom prst="rect">
            <a:avLst/>
          </a:prstGeom>
          <a:solidFill>
            <a:srgbClr val="1A2D42"/>
          </a:solidFill>
          <a:ln w="5080">
            <a:solidFill>
              <a:srgbClr val="1E3A5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01568" y="2715768"/>
            <a:ext cx="128016" cy="12801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84448" y="258775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× Smoking scatter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337560" y="3054096"/>
            <a:ext cx="2514600" cy="420624"/>
          </a:xfrm>
          <a:prstGeom prst="rect">
            <a:avLst/>
          </a:prstGeom>
          <a:solidFill>
            <a:srgbClr val="1A2D42"/>
          </a:solidFill>
          <a:ln w="5080">
            <a:solidFill>
              <a:srgbClr val="1E3A5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01568" y="3200400"/>
            <a:ext cx="128016" cy="12801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84448" y="3072384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Smoker comparison boxplot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337560" y="3538728"/>
            <a:ext cx="2514600" cy="420624"/>
          </a:xfrm>
          <a:prstGeom prst="rect">
            <a:avLst/>
          </a:prstGeom>
          <a:solidFill>
            <a:srgbClr val="1A2D42"/>
          </a:solidFill>
          <a:ln w="5080">
            <a:solidFill>
              <a:srgbClr val="1E3A5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401568" y="3685032"/>
            <a:ext cx="128016" cy="12801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84448" y="3557016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337560" y="4023360"/>
            <a:ext cx="2514600" cy="420624"/>
          </a:xfrm>
          <a:prstGeom prst="rect">
            <a:avLst/>
          </a:prstGeom>
          <a:solidFill>
            <a:srgbClr val="1A2D42"/>
          </a:solidFill>
          <a:ln w="5080">
            <a:solidFill>
              <a:srgbClr val="1E3A5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401568" y="4169664"/>
            <a:ext cx="128016" cy="12801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84448" y="4041648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× Gender bar chart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126480" y="1005840"/>
            <a:ext cx="2788920" cy="4937760"/>
          </a:xfrm>
          <a:prstGeom prst="rect">
            <a:avLst/>
          </a:prstGeom>
          <a:solidFill>
            <a:srgbClr val="142232"/>
          </a:solidFill>
          <a:ln w="15240">
            <a:solidFill>
              <a:srgbClr val="FBBF24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126480" y="1005840"/>
            <a:ext cx="278892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63640" y="1115568"/>
            <a:ext cx="2514600" cy="310896"/>
          </a:xfrm>
          <a:prstGeom prst="roundRect">
            <a:avLst>
              <a:gd name="adj" fmla="val 14706"/>
            </a:avLst>
          </a:prstGeom>
          <a:solidFill>
            <a:srgbClr val="0A1825"/>
          </a:solidFill>
          <a:ln w="7620">
            <a:solidFill>
              <a:srgbClr val="FBBF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63640" y="111556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3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263640" y="153619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6720840" y="15727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Performance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6263640" y="2084832"/>
            <a:ext cx="2514600" cy="420624"/>
          </a:xfrm>
          <a:prstGeom prst="rect">
            <a:avLst/>
          </a:prstGeom>
          <a:solidFill>
            <a:srgbClr val="1A2D42"/>
          </a:solidFill>
          <a:ln w="5080">
            <a:solidFill>
              <a:srgbClr val="1E3A5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27648" y="2231136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10528" y="210312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7-model comparison table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263640" y="2569464"/>
            <a:ext cx="2514600" cy="420624"/>
          </a:xfrm>
          <a:prstGeom prst="rect">
            <a:avLst/>
          </a:prstGeom>
          <a:solidFill>
            <a:srgbClr val="1A2D42"/>
          </a:solidFill>
          <a:ln w="5080">
            <a:solidFill>
              <a:srgbClr val="1E3A5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27648" y="2715768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10528" y="258775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/ RMSE / MAE bars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263640" y="3054096"/>
            <a:ext cx="2514600" cy="420624"/>
          </a:xfrm>
          <a:prstGeom prst="rect">
            <a:avLst/>
          </a:prstGeom>
          <a:solidFill>
            <a:srgbClr val="1A2D42"/>
          </a:solidFill>
          <a:ln w="5080">
            <a:solidFill>
              <a:srgbClr val="1E3A5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27648" y="3200400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10528" y="3072384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Predicted chart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263640" y="3538728"/>
            <a:ext cx="2514600" cy="420624"/>
          </a:xfrm>
          <a:prstGeom prst="rect">
            <a:avLst/>
          </a:prstGeom>
          <a:solidFill>
            <a:srgbClr val="1A2D42"/>
          </a:solidFill>
          <a:ln w="5080">
            <a:solidFill>
              <a:srgbClr val="1E3A5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327648" y="3685032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10528" y="3557016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distribution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263640" y="4023360"/>
            <a:ext cx="2514600" cy="420624"/>
          </a:xfrm>
          <a:prstGeom prst="rect">
            <a:avLst/>
          </a:prstGeom>
          <a:solidFill>
            <a:srgbClr val="1A2D42"/>
          </a:solidFill>
          <a:ln w="5080">
            <a:solidFill>
              <a:srgbClr val="1E3A5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327648" y="4169664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10528" y="4041648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highlighted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9052560" y="1005840"/>
            <a:ext cx="2788920" cy="4937760"/>
          </a:xfrm>
          <a:prstGeom prst="rect">
            <a:avLst/>
          </a:prstGeom>
          <a:solidFill>
            <a:srgbClr val="142232"/>
          </a:solidFill>
          <a:ln w="15240">
            <a:solidFill>
              <a:srgbClr val="4ADE80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9052560" y="1005840"/>
            <a:ext cx="2788920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189720" y="1115568"/>
            <a:ext cx="2514600" cy="310896"/>
          </a:xfrm>
          <a:prstGeom prst="roundRect">
            <a:avLst>
              <a:gd name="adj" fmla="val 14706"/>
            </a:avLst>
          </a:prstGeom>
          <a:solidFill>
            <a:srgbClr val="0A1825"/>
          </a:solidFill>
          <a:ln w="7620">
            <a:solidFill>
              <a:srgbClr val="4ADE8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189720" y="111556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4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9189720" y="153619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76" name="Text 74"/>
          <p:cNvSpPr/>
          <p:nvPr/>
        </p:nvSpPr>
        <p:spPr>
          <a:xfrm>
            <a:off x="9646920" y="15727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 My Cost</a:t>
            </a:r>
            <a:endParaRPr lang="en-US" sz="1400" dirty="0"/>
          </a:p>
        </p:txBody>
      </p:sp>
      <p:sp>
        <p:nvSpPr>
          <p:cNvPr id="77" name="Shape 75"/>
          <p:cNvSpPr/>
          <p:nvPr/>
        </p:nvSpPr>
        <p:spPr>
          <a:xfrm>
            <a:off x="9189720" y="2084832"/>
            <a:ext cx="2514600" cy="420624"/>
          </a:xfrm>
          <a:prstGeom prst="rect">
            <a:avLst/>
          </a:prstGeom>
          <a:solidFill>
            <a:srgbClr val="1A2D42"/>
          </a:solidFill>
          <a:ln w="5080">
            <a:solidFill>
              <a:srgbClr val="1E3A5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253728" y="2231136"/>
            <a:ext cx="128016" cy="12801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436608" y="210312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&amp; BMI sliders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9189720" y="2569464"/>
            <a:ext cx="2514600" cy="420624"/>
          </a:xfrm>
          <a:prstGeom prst="rect">
            <a:avLst/>
          </a:prstGeom>
          <a:solidFill>
            <a:srgbClr val="1A2D42"/>
          </a:solidFill>
          <a:ln w="5080">
            <a:solidFill>
              <a:srgbClr val="1E3A5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253728" y="2715768"/>
            <a:ext cx="128016" cy="12801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436608" y="258775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 / Smoker / Region inputs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9189720" y="3054096"/>
            <a:ext cx="2514600" cy="420624"/>
          </a:xfrm>
          <a:prstGeom prst="rect">
            <a:avLst/>
          </a:prstGeom>
          <a:solidFill>
            <a:srgbClr val="1A2D42"/>
          </a:solidFill>
          <a:ln w="5080">
            <a:solidFill>
              <a:srgbClr val="1E3A5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253728" y="3200400"/>
            <a:ext cx="128016" cy="12801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436608" y="3072384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category indicator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9189720" y="3538728"/>
            <a:ext cx="2514600" cy="420624"/>
          </a:xfrm>
          <a:prstGeom prst="rect">
            <a:avLst/>
          </a:prstGeom>
          <a:solidFill>
            <a:srgbClr val="1A2D42"/>
          </a:solidFill>
          <a:ln w="5080">
            <a:solidFill>
              <a:srgbClr val="1E3A5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253728" y="3685032"/>
            <a:ext cx="128016" cy="12801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436608" y="3557016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+ Monthly cost output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9189720" y="4023360"/>
            <a:ext cx="2514600" cy="420624"/>
          </a:xfrm>
          <a:prstGeom prst="rect">
            <a:avLst/>
          </a:prstGeom>
          <a:solidFill>
            <a:srgbClr val="1A2D42"/>
          </a:solidFill>
          <a:ln w="5080">
            <a:solidFill>
              <a:srgbClr val="1E3A5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253728" y="4169664"/>
            <a:ext cx="128016" cy="12801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436608" y="4041648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badge (Low→Very High)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9189720" y="4507992"/>
            <a:ext cx="2514600" cy="420624"/>
          </a:xfrm>
          <a:prstGeom prst="rect">
            <a:avLst/>
          </a:prstGeom>
          <a:solidFill>
            <a:srgbClr val="1A2D42"/>
          </a:solidFill>
          <a:ln w="5080">
            <a:solidFill>
              <a:srgbClr val="1E3A5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253728" y="4654296"/>
            <a:ext cx="128016" cy="12801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436608" y="452628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6-factor contribution bars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Run the Streamlit App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setup guide — run locally in under 2 minutes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6949440" cy="1261872"/>
          </a:xfrm>
          <a:prstGeom prst="rect">
            <a:avLst/>
          </a:prstGeom>
          <a:solidFill>
            <a:srgbClr val="142232"/>
          </a:solidFill>
          <a:ln w="10160">
            <a:solidFill>
              <a:srgbClr val="38BDF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298448"/>
            <a:ext cx="566928" cy="5669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98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1097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Clone / Download Files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78992" y="1481328"/>
            <a:ext cx="5989320" cy="658368"/>
          </a:xfrm>
          <a:prstGeom prst="rect">
            <a:avLst/>
          </a:prstGeom>
          <a:solidFill>
            <a:srgbClr val="060E18"/>
          </a:solidFill>
          <a:ln w="6350">
            <a:solidFill>
              <a:srgbClr val="1E3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1517904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Make sure these 2 files are in same folder: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medical_insurance.csv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395728"/>
            <a:ext cx="6949440" cy="1261872"/>
          </a:xfrm>
          <a:prstGeom prst="rect">
            <a:avLst/>
          </a:prstGeom>
          <a:solidFill>
            <a:srgbClr val="142232"/>
          </a:solidFill>
          <a:ln w="10160">
            <a:solidFill>
              <a:srgbClr val="A78BF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" y="2688336"/>
            <a:ext cx="566928" cy="5669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688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8992" y="24871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 Dependencies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78992" y="2871216"/>
            <a:ext cx="5989320" cy="658368"/>
          </a:xfrm>
          <a:prstGeom prst="rect">
            <a:avLst/>
          </a:prstGeom>
          <a:solidFill>
            <a:srgbClr val="060E18"/>
          </a:solidFill>
          <a:ln w="6350">
            <a:solidFill>
              <a:srgbClr val="1E3A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2907792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streamlit pandas numpy matplotlib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seaborn scikit-learn xgboost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785616"/>
            <a:ext cx="6949440" cy="1261872"/>
          </a:xfrm>
          <a:prstGeom prst="rect">
            <a:avLst/>
          </a:prstGeom>
          <a:solidFill>
            <a:srgbClr val="142232"/>
          </a:solidFill>
          <a:ln w="10160">
            <a:solidFill>
              <a:srgbClr val="FBBF24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4078224"/>
            <a:ext cx="566928" cy="5669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40782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78992" y="387705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Terminal / CMD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78992" y="4261104"/>
            <a:ext cx="5989320" cy="658368"/>
          </a:xfrm>
          <a:prstGeom prst="rect">
            <a:avLst/>
          </a:prstGeom>
          <a:solidFill>
            <a:srgbClr val="060E18"/>
          </a:solidFill>
          <a:ln w="6350">
            <a:solidFill>
              <a:srgbClr val="1E3A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4440" y="4297680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Navigate to the folder containing app.py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path/to/your/folder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5175504"/>
            <a:ext cx="6949440" cy="1261872"/>
          </a:xfrm>
          <a:prstGeom prst="rect">
            <a:avLst/>
          </a:prstGeom>
          <a:solidFill>
            <a:srgbClr val="0A2A15"/>
          </a:solidFill>
          <a:ln w="25400">
            <a:solidFill>
              <a:srgbClr val="4ADE8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4048" y="5468112"/>
            <a:ext cx="566928" cy="56692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5468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78992" y="526694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the App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78992" y="5650992"/>
            <a:ext cx="5989320" cy="658368"/>
          </a:xfrm>
          <a:prstGeom prst="rect">
            <a:avLst/>
          </a:prstGeom>
          <a:solidFill>
            <a:srgbClr val="060E18"/>
          </a:solidFill>
          <a:ln w="6350">
            <a:solidFill>
              <a:srgbClr val="1E3A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34440" y="5687568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app.py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452360" y="1005840"/>
            <a:ext cx="4434840" cy="5074920"/>
          </a:xfrm>
          <a:prstGeom prst="rect">
            <a:avLst/>
          </a:prstGeom>
          <a:solidFill>
            <a:srgbClr val="142232"/>
          </a:solidFill>
          <a:ln w="10160">
            <a:solidFill>
              <a:srgbClr val="1E3A5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52360" y="1005840"/>
            <a:ext cx="443484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0" y="111556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What Happens Next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452360" y="1572768"/>
            <a:ext cx="4434840" cy="484632"/>
          </a:xfrm>
          <a:prstGeom prst="rect">
            <a:avLst/>
          </a:prstGeom>
          <a:solidFill>
            <a:srgbClr val="1A2D42"/>
          </a:solidFill>
          <a:ln w="3810">
            <a:solidFill>
              <a:srgbClr val="1E3A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16368" y="1609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🌐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936992" y="16184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opens automatically at http://localhost:8501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452360" y="2121408"/>
            <a:ext cx="4434840" cy="484632"/>
          </a:xfrm>
          <a:prstGeom prst="rect">
            <a:avLst/>
          </a:prstGeom>
          <a:solidFill>
            <a:srgbClr val="142232"/>
          </a:solidFill>
          <a:ln w="3810">
            <a:solidFill>
              <a:srgbClr val="1E3A5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16368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936992" y="21671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loads in 10–15 seconds (model trains on startup)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452360" y="2670048"/>
            <a:ext cx="4434840" cy="484632"/>
          </a:xfrm>
          <a:prstGeom prst="rect">
            <a:avLst/>
          </a:prstGeom>
          <a:solidFill>
            <a:srgbClr val="1A2D42"/>
          </a:solidFill>
          <a:ln w="3810">
            <a:solidFill>
              <a:srgbClr val="1E3A5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16368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936992" y="27157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EDA charts across 4 interactive tabs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452360" y="3218688"/>
            <a:ext cx="4434840" cy="484632"/>
          </a:xfrm>
          <a:prstGeom prst="rect">
            <a:avLst/>
          </a:prstGeom>
          <a:solidFill>
            <a:srgbClr val="142232"/>
          </a:solidFill>
          <a:ln w="3810">
            <a:solidFill>
              <a:srgbClr val="1E3A5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16368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🎛️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936992" y="32644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sliders — age, BMI, children (0–5)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452360" y="3767328"/>
            <a:ext cx="4434840" cy="484632"/>
          </a:xfrm>
          <a:prstGeom prst="rect">
            <a:avLst/>
          </a:prstGeom>
          <a:solidFill>
            <a:srgbClr val="1A2D42"/>
          </a:solidFill>
          <a:ln w="3810">
            <a:solidFill>
              <a:srgbClr val="1E3A5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16368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🔽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936992" y="381304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sex, smoker status and US region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452360" y="4315968"/>
            <a:ext cx="4434840" cy="484632"/>
          </a:xfrm>
          <a:prstGeom prst="rect">
            <a:avLst/>
          </a:prstGeom>
          <a:solidFill>
            <a:srgbClr val="142232"/>
          </a:solidFill>
          <a:ln w="3810">
            <a:solidFill>
              <a:srgbClr val="1E3A5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16368" y="4352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💰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936992" y="43616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Estimate → see annual cost + monthly premium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452360" y="4864608"/>
            <a:ext cx="4434840" cy="484632"/>
          </a:xfrm>
          <a:prstGeom prst="rect">
            <a:avLst/>
          </a:prstGeom>
          <a:solidFill>
            <a:srgbClr val="1A2D42"/>
          </a:solidFill>
          <a:ln w="3810">
            <a:solidFill>
              <a:srgbClr val="1E3A5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16368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🏷️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936992" y="49103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badge: Low / Medium / High / Very High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452360" y="5413248"/>
            <a:ext cx="4434840" cy="484632"/>
          </a:xfrm>
          <a:prstGeom prst="rect">
            <a:avLst/>
          </a:prstGeom>
          <a:solidFill>
            <a:srgbClr val="142232"/>
          </a:solidFill>
          <a:ln w="3810">
            <a:solidFill>
              <a:srgbClr val="1E3A5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16368" y="5449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📈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7936992" y="54589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factor bars show what drives your premium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74320" y="6236208"/>
            <a:ext cx="11612880" cy="475488"/>
          </a:xfrm>
          <a:prstGeom prst="rect">
            <a:avLst/>
          </a:prstGeom>
          <a:solidFill>
            <a:srgbClr val="0A1F35"/>
          </a:solidFill>
          <a:ln w="6350">
            <a:solidFill>
              <a:srgbClr val="1E3A5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6254496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Tip: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stop the app, press </a:t>
            </a:r>
            <a:r>
              <a:rPr lang="en-US" sz="11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C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 the terminal.  Share with team:  </a:t>
            </a: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app.py --server.address 0.0.0.0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Predictions — Live Examples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input predictions using best model (Linear Regression, R²=0.9108)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1612880" cy="1298448"/>
          </a:xfrm>
          <a:prstGeom prst="rect">
            <a:avLst/>
          </a:prstGeom>
          <a:solidFill>
            <a:srgbClr val="142232"/>
          </a:solidFill>
          <a:ln w="10160">
            <a:solidFill>
              <a:srgbClr val="4ADE8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73152" cy="129844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Young Healthy Male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25  ·  Male  ·  BMI: 22.0 (Normal)  ·  Smoker: No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0D1B2A"/>
          </a:solidFill>
          <a:ln w="1016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288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0" y="110642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$4,444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686800" y="18562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$370 / month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1188720"/>
            <a:ext cx="0" cy="1005840"/>
          </a:xfrm>
          <a:prstGeom prst="line">
            <a:avLst/>
          </a:prstGeom>
          <a:noFill/>
          <a:ln w="10160">
            <a:solidFill>
              <a:srgbClr val="1E3A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468880"/>
            <a:ext cx="11612880" cy="1298448"/>
          </a:xfrm>
          <a:prstGeom prst="rect">
            <a:avLst/>
          </a:prstGeom>
          <a:solidFill>
            <a:srgbClr val="142232"/>
          </a:solidFill>
          <a:ln w="10160">
            <a:solidFill>
              <a:srgbClr val="38BDF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468880"/>
            <a:ext cx="73152" cy="12984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5603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Middle-aged Obese Female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29260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45  ·  Female  ·  BMI: 32.5 (Obese)  ·  Smoker: No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24612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0D1B2A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461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86800" y="252374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$11,198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686800" y="32735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$933 / month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0" y="2606040"/>
            <a:ext cx="0" cy="1005840"/>
          </a:xfrm>
          <a:prstGeom prst="line">
            <a:avLst/>
          </a:prstGeom>
          <a:noFill/>
          <a:ln w="10160">
            <a:solidFill>
              <a:srgbClr val="1E3A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886200"/>
            <a:ext cx="11612880" cy="1298448"/>
          </a:xfrm>
          <a:prstGeom prst="rect">
            <a:avLst/>
          </a:prstGeom>
          <a:solidFill>
            <a:srgbClr val="142232"/>
          </a:solidFill>
          <a:ln w="10160">
            <a:solidFill>
              <a:srgbClr val="FB923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886200"/>
            <a:ext cx="73152" cy="129844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9776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Smoker, Slightly Overweight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43434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38  ·  Male  ·  BMI: 29.0 (Overweight)  ·  Smoker: Yes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466344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0D1B2A"/>
          </a:solidFill>
          <a:ln w="10160">
            <a:solidFill>
              <a:srgbClr val="FB92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6634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686800" y="394106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$23,025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8686800" y="46908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$1,919 / month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0" y="4023360"/>
            <a:ext cx="0" cy="1005840"/>
          </a:xfrm>
          <a:prstGeom prst="line">
            <a:avLst/>
          </a:prstGeom>
          <a:noFill/>
          <a:ln w="10160">
            <a:solidFill>
              <a:srgbClr val="1E3A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5303520"/>
            <a:ext cx="11612880" cy="1298448"/>
          </a:xfrm>
          <a:prstGeom prst="rect">
            <a:avLst/>
          </a:prstGeom>
          <a:solidFill>
            <a:srgbClr val="142232"/>
          </a:solidFill>
          <a:ln w="10160">
            <a:solidFill>
              <a:srgbClr val="F87171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5303520"/>
            <a:ext cx="73152" cy="129844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5394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Obese Smoker, 3 Children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" y="57607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55  ·  Female  ·  BMI: 38.0 (Obese)  ·  Smoker: Yes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608076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0D1B2A"/>
          </a:solidFill>
          <a:ln w="10160">
            <a:solidFill>
              <a:srgbClr val="F8717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60807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RISK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686800" y="535838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$47,922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8686800" y="610819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$3,994 / month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943600" y="5440680"/>
            <a:ext cx="0" cy="1005840"/>
          </a:xfrm>
          <a:prstGeom prst="line">
            <a:avLst/>
          </a:prstGeom>
          <a:noFill/>
          <a:ln w="10160">
            <a:solidFill>
              <a:srgbClr val="1E3A52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42232"/>
          </a:solidFill>
          <a:ln w="12700">
            <a:solidFill>
              <a:srgbClr val="1422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20040" y="171907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20040" y="2514600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Dataset cleaned — 1,337 unique records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3063240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5 EDA sections — uni, bi, multi, corr, outlier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3611880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Feature Engineering — 9 → 13 features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4160520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7 models trained — R² 0.88 to 0.91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4709160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Best: Linear Regression (R²=0.9108)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5257800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MLflow — 7 runs logged + model registered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5806440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Streamlit app with live prediction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365760"/>
            <a:ext cx="2926080" cy="1965960"/>
          </a:xfrm>
          <a:prstGeom prst="rect">
            <a:avLst/>
          </a:prstGeom>
          <a:solidFill>
            <a:srgbClr val="1A2D42"/>
          </a:solidFill>
          <a:ln w="1016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60720" y="365760"/>
            <a:ext cx="64008" cy="19659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4754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R² Score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97880" y="685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0.9108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869680" y="365760"/>
            <a:ext cx="2926080" cy="1965960"/>
          </a:xfrm>
          <a:prstGeom prst="rect">
            <a:avLst/>
          </a:prstGeom>
          <a:solidFill>
            <a:srgbClr val="1A2D42"/>
          </a:solidFill>
          <a:ln w="1016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869680" y="365760"/>
            <a:ext cx="64008" cy="1965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06840" y="4754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RMSE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006840" y="685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$4,048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760720" y="2514600"/>
            <a:ext cx="2926080" cy="1965960"/>
          </a:xfrm>
          <a:prstGeom prst="rect">
            <a:avLst/>
          </a:prstGeom>
          <a:solidFill>
            <a:srgbClr val="1A2D42"/>
          </a:solidFill>
          <a:ln w="1016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760720" y="2514600"/>
            <a:ext cx="64008" cy="19659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26243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897880" y="2834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$2,268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8869680" y="2514600"/>
            <a:ext cx="2926080" cy="1965960"/>
          </a:xfrm>
          <a:prstGeom prst="rect">
            <a:avLst/>
          </a:prstGeom>
          <a:solidFill>
            <a:srgbClr val="1A2D42"/>
          </a:solidFill>
          <a:ln w="1016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869680" y="2514600"/>
            <a:ext cx="64008" cy="1965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06840" y="26243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006840" y="2834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5760720" y="4663440"/>
            <a:ext cx="2926080" cy="1965960"/>
          </a:xfrm>
          <a:prstGeom prst="rect">
            <a:avLst/>
          </a:prstGeom>
          <a:solidFill>
            <a:srgbClr val="1A2D42"/>
          </a:solidFill>
          <a:ln w="1016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760720" y="4663440"/>
            <a:ext cx="64008" cy="196596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4773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897880" y="4983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8869680" y="4663440"/>
            <a:ext cx="2926080" cy="1965960"/>
          </a:xfrm>
          <a:prstGeom prst="rect">
            <a:avLst/>
          </a:prstGeom>
          <a:solidFill>
            <a:srgbClr val="1A2D42"/>
          </a:solidFill>
          <a:ln w="1016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869680" y="4663440"/>
            <a:ext cx="64008" cy="1965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06840" y="4773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Records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006840" y="4983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1,337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320040" y="6492240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Insurance Cost Prediction  ·  Rudra Barman  ·  Healthcare &amp; Insurance Domain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1625</Words>
  <Application>Microsoft Office PowerPoint</Application>
  <PresentationFormat>Widescreen</PresentationFormat>
  <Paragraphs>356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Insurance Cost Prediction</dc:title>
  <dc:subject>PptxGenJS Presentation</dc:subject>
  <dc:creator>Rudra Barman</dc:creator>
  <cp:lastModifiedBy>Rudra Barman</cp:lastModifiedBy>
  <cp:revision>1</cp:revision>
  <dcterms:created xsi:type="dcterms:W3CDTF">2026-03-07T10:01:21Z</dcterms:created>
  <dcterms:modified xsi:type="dcterms:W3CDTF">2026-03-07T10:09:55Z</dcterms:modified>
</cp:coreProperties>
</file>